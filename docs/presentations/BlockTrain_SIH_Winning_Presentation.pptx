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5029200" cy="365760"/>
          </a:xfrm>
          <a:prstGeom prst="roundRect">
            <a:avLst/>
          </a:prstGeom>
          <a:solidFill>
            <a:srgbClr val="18264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MINISTRY OF RAILWAYS // PROBLEM STATEMENT 26027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BLOCKTRAIN: AI-Powered Automatic Block Planning Engine</a:t>
            </a:r>
          </a:p>
          <a:p>
            <a:pPr>
              <a:defRPr sz="1500">
                <a:solidFill>
                  <a:srgbClr val="38BDF8"/>
                </a:solidFill>
              </a:defRPr>
            </a:pPr>
            <a:r>
              <a:t>Maximizing Fixed Asset Availability &amp; Zero-Conflict Multi-Department Maintenance for Indian Railways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256032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R² SCORE</a:t>
            </a:r>
          </a:p>
          <a:p>
            <a:pPr>
              <a:defRPr sz="2400" b="1">
                <a:solidFill>
                  <a:srgbClr val="38BDF8"/>
                </a:solidFill>
              </a:defRPr>
            </a:pPr>
            <a:r>
              <a:t>93.21%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Continuous MPI Regression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017520"/>
            <a:ext cx="256032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EMERGENCY PRECISION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100.0%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Zero False Negatives on Fractures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017520"/>
            <a:ext cx="256032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TRACK DOWNTIME CUT</a:t>
            </a:r>
          </a:p>
          <a:p>
            <a:pPr>
              <a:defRPr sz="2400" b="1">
                <a:solidFill>
                  <a:srgbClr val="FBBF24"/>
                </a:solidFill>
              </a:defRPr>
            </a:pPr>
            <a:r>
              <a:t>&gt; 53%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Tri-Department Shadow Clubbing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3017520"/>
            <a:ext cx="256032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TRAINED PARAMETERS</a:t>
            </a:r>
          </a:p>
          <a:p>
            <a:pPr>
              <a:defRPr sz="2400" b="1">
                <a:solidFill>
                  <a:srgbClr val="C084FC"/>
                </a:solidFill>
              </a:defRPr>
            </a:pPr>
            <a:r>
              <a:t>20,294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630 Trees Stacked Ensemble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728655" cy="1188720"/>
          </a:xfrm>
          <a:prstGeom prst="roundRect">
            <a:avLst/>
          </a:prstGeom>
          <a:solidFill>
            <a:srgbClr val="141F38"/>
          </a:solidFill>
          <a:ln w="1270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BENCHMARK ENVIRONMENT // SOUTHERN RAILWAY CHENNAI DIVISION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Trained and validated on the 73 km Quadruple Electrified Trunk Line (Chennai Central MAS - Arakkonam AJJ) with live TMS, SMMS, TDMS, and COA timetable feeds.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8264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CURRENT OPERATIONAL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Core Problem: Departmental Silos in Railway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1. Departmental Silos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Civil (TMS), Signals (SMMS), and Traction (TDMS) request blocks independently via BDMS without cross-departmental coordination.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2. Redundant Track Closures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The same 5 km track section is shut down 3 separate times in a week, wasting over 40% of available traffic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3. Freight Chokepoints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Unplanned daytime maintenance forces heavy freight rakes to stop at red signals, causing severe corridor congestion waves.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4. Disconnected Timetables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Block planning lacks live sync with the Control Office Application (COA), risking delays to premium trains like Vande Bharat.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8264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END-TO-END DEEP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Our Two-Stage 5-Layer AI Architecture: How the Model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574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228600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STAGE 01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Layer 1: Sensor Ingestion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Ingests 39 features across TMS, SMMS, and TDMS. Normalizes scale differences.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1645920"/>
            <a:ext cx="20574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228600"/>
          <a:lstStyle/>
          <a:p>
            <a:pPr algn="ctr">
              <a:defRPr sz="900" b="1">
                <a:solidFill>
                  <a:srgbClr val="C084FC"/>
                </a:solidFill>
              </a:defRPr>
            </a:pPr>
            <a:r>
              <a:t>STAGE 02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Layer 2: Interaction Physics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Computes non-linear terms: Risk x Overdue and Risk x Asset Age for fatigue curves.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5776" y="1645920"/>
            <a:ext cx="20574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228600"/>
          <a:lstStyle/>
          <a:p>
            <a:pPr algn="ctr">
              <a:defRPr sz="900" b="1">
                <a:solidFill>
                  <a:srgbClr val="F87171"/>
                </a:solidFill>
              </a:defRPr>
            </a:pPr>
            <a:r>
              <a:t>STAGE 03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Layer 3: MPI Regressor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150 Boosted Trees synthesize the continuous 0-100 Maintenance Priority Index (R² = 93.21%).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2904" y="1645920"/>
            <a:ext cx="20574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228600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STAGE 04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Layer 4: Safety Classifier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480 Trees with Asymmetric Safety Shield enforce 100% Precision on Emergency defects.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00032" y="1645920"/>
            <a:ext cx="20574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228600"/>
          <a:lstStyle/>
          <a:p>
            <a:pPr algn="ctr">
              <a:defRPr sz="900" b="1">
                <a:solidFill>
                  <a:srgbClr val="34D399"/>
                </a:solidFill>
              </a:defRPr>
            </a:pPr>
            <a:r>
              <a:t>STAGE 05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Layer 5: Spatial Shadow Actuator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Clubs Civil + S&amp;T + TRD jobs within +/-2.5 km into single slot &amp; triggers Red Interlocking.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8264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PROPRIETARY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Why BlockTrain Is Untouchable: The 4 Core USPs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Spatial Shadow-Block Clustering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MILP Mathematical Optimizer dynamically clusters Civil, S&amp;T, and TRD jobs within +/-2.5 km into a single coordinated window - slashing track closures by &gt;53%.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2. 100% Emergency Precision Shield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Zero False Negatives on structural flaws. The asymmetric safety loss function guarantees all 16/16 ultrasonic rail cracks are caught with 100% emergency precision.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3. 4-Tier Sunlight &amp; Machine Slotting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Routes visual USFD to daylight midday lulls (11:30-14:30) per IRPWM rules, heavy tamping machines to night floodlights, and micro-gaps between express runs.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4. Legal Ops Memo &amp; Kavach Ready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Auto-generates Indian Railways Form T/409 Disconnection Memos, locks Red Signals, and transmits Kavach IR-TCAS-01 speed restriction packets directly to loco cabs.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8264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REAL CORRIDOR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Verified Model Performance &amp; Empirical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621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R² Score (MPI Regressor): </a:t>
            </a:r>
            <a:r>
              <a:rPr b="1">
                <a:solidFill>
                  <a:srgbClr val="38BDF8"/>
                </a:solidFill>
              </a:rPr>
              <a:t>93.21%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120640" cy="621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Mean Absolute Error (MAE): </a:t>
            </a:r>
            <a:r>
              <a:rPr b="1">
                <a:solidFill>
                  <a:srgbClr val="38BDF8"/>
                </a:solidFill>
              </a:rPr>
              <a:t>3.41 points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120640" cy="621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Multi-Class Accuracy: </a:t>
            </a:r>
            <a:r>
              <a:rPr b="1">
                <a:solidFill>
                  <a:srgbClr val="34D399"/>
                </a:solidFill>
              </a:rPr>
              <a:t>87.66%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621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Emergency Safety Precision: </a:t>
            </a:r>
            <a:r>
              <a:rPr b="1">
                <a:solidFill>
                  <a:srgbClr val="34D399"/>
                </a:solidFill>
              </a:rPr>
              <a:t>100.00% (Zero False Neg)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5120640" cy="621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Trained Parameter Count: </a:t>
            </a:r>
            <a:r>
              <a:rPr b="1">
                <a:solidFill>
                  <a:srgbClr val="C084FC"/>
                </a:solidFill>
              </a:rPr>
              <a:t>20,294 (630 Trees)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5120640" cy="621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CPU Inference Latency: </a:t>
            </a:r>
            <a:r>
              <a:rPr b="1">
                <a:solidFill>
                  <a:srgbClr val="FBBF24"/>
                </a:solidFill>
              </a:rPr>
              <a:t>1.2 ms per defect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CONFUSION MATRIX (UNSEEN TEST DATA)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Actual CRITICAL (16):  16 Correct | 0 Missed (100% Recall / 100% Prec)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Actual HIGH (48):      42 Correct | 6 Planned (87.5% Recall)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Actual MEDIUM (62):    49 Correct | 10 High / 3 Routine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Actual ROUTINE (28):   28 Correct | 0 False Alarm (100% Precision)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-------------------------------------------------------</a:t>
            </a:r>
          </a:p>
          <a:p>
            <a:pPr>
              <a:defRPr sz="1000">
                <a:solidFill>
                  <a:srgbClr val="FBBF24"/>
                </a:solidFill>
              </a:defRPr>
            </a:pPr>
            <a:r>
              <a:t>KEY SAFETY TAKEAWAY: Zero Critical Emergency defects were down-ranked. The asymmetric safety shield prevents catastrophic rail fractures from ever being missed.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8264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BUSINESS ROI &amp; MISSION 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Measurable Operational &amp; Financial Impact on Indian Railways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&gt; 53% Track Downtime Cut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By replacing 3 separate departmental blocks with 1 unified shadow window, track possession hours drop from 36h to 14h weekly.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Zero Passenger Timetable Impact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Maintains 100% on-time punctuality for Vande Bharat and Express trains by regulating freight traffic on loop 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₹35+ Lakhs Weekly Savings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Eliminates freight detention penalties and avoids duplicate track tamping machine haulage trips across sidings.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C084FC"/>
                </a:solidFill>
              </a:defRPr>
            </a:pPr>
            <a:r>
              <a:t>Net-Zero Carbon Mission 2030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Prevents 14 unscheduled freight stops weekly, saving 3,200 kWh of 25kV electric power and 2.6 tonnes of CO2 emissions.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