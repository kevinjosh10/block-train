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BLOCKTRAIN: AI-POWERED AUTOMATIC BLOCK PLANNING SYSTEM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1E3A8A"/>
                </a:solidFill>
              </a:rPr>
              <a:t>Problem Statement ID:</a:t>
            </a:r>
            <a:r>
              <a:rPr sz="1100">
                <a:solidFill>
                  <a:srgbClr val="1E293B"/>
                </a:solidFill>
              </a:rPr>
              <a:t> 26027</a:t>
            </a:r>
            <a:endParaRPr lang="en-US" dirty="0"/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3A8A"/>
                </a:solidFill>
              </a:rPr>
              <a:t>Problem Statement Title:</a:t>
            </a:r>
            <a:r>
              <a:rPr sz="1100">
                <a:solidFill>
                  <a:srgbClr val="1E293B"/>
                </a:solidFill>
              </a:rPr>
              <a:t> AI-Powered Automatic Block Planning to Maximize Asset Availability for Train Operations on Indian Railways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3A8A"/>
                </a:solidFill>
              </a:rPr>
              <a:t>Theme:</a:t>
            </a:r>
            <a:r>
              <a:rPr sz="1100">
                <a:solidFill>
                  <a:srgbClr val="1E293B"/>
                </a:solidFill>
              </a:rPr>
              <a:t> Transportation &amp; Logistics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3A8A"/>
                </a:solidFill>
              </a:rPr>
              <a:t>PS Category:</a:t>
            </a:r>
            <a:r>
              <a:rPr sz="1100">
                <a:solidFill>
                  <a:srgbClr val="1E293B"/>
                </a:solidFill>
              </a:rPr>
              <a:t> Software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3A8A"/>
                </a:solidFill>
              </a:rPr>
              <a:t>Organization:</a:t>
            </a:r>
            <a:r>
              <a:rPr sz="1100">
                <a:solidFill>
                  <a:srgbClr val="1E293B"/>
                </a:solidFill>
              </a:rPr>
              <a:t> Ministry of Railways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3A8A"/>
                </a:solidFill>
              </a:rPr>
              <a:t>Target Corridor:</a:t>
            </a:r>
            <a:r>
              <a:rPr sz="1100">
                <a:solidFill>
                  <a:srgbClr val="1E293B"/>
                </a:solidFill>
              </a:rPr>
              <a:t> Southern Railway Trunk (Chennai MAS - Arakkonam AJJ)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3A8A"/>
                </a:solidFill>
              </a:rPr>
              <a:t>Team Name:</a:t>
            </a:r>
            <a:r>
              <a:rPr sz="1100">
                <a:solidFill>
                  <a:srgbClr val="1E293B"/>
                </a:solidFill>
              </a:rPr>
              <a:t> BlockTrain AI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3A8A"/>
                </a:solidFill>
              </a:rPr>
              <a:t>Model Status:</a:t>
            </a:r>
            <a:r>
              <a:rPr sz="1100" b="1">
                <a:solidFill>
                  <a:srgbClr val="15803D"/>
                </a:solidFill>
              </a:rPr>
              <a:t> Fully Trained &amp; Validated (R² = 93.21%, 100% Emergency Safety Shield)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1800" b="1">
                <a:solidFill>
                  <a:srgbClr val="1E3A8A"/>
                </a:solidFill>
              </a:defRPr>
            </a:pPr>
            <a:r>
              <a:t>BLOCKTRAIN: MULTI-DEPARTMENT SHADOW-BLOCKING &amp; DYNAMIC SLOTTING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b="1" sz="1100">
                <a:solidFill>
                  <a:srgbClr val="0E7490"/>
                </a:solidFill>
              </a:rPr>
              <a:t>• Proposed Solution Overview: </a:t>
            </a:r>
            <a:r>
              <a:rPr sz="1050">
                <a:solidFill>
                  <a:srgbClr val="1E293B"/>
                </a:solidFill>
              </a:rPr>
              <a:t>BlockTrain is a unified AI/ML decision-support system that breaks legacy departmental silos by integrating Track (TMS), Signals (SMMS), and Traction (TDMS) defect work orders with live Control Office Application (COA) train timetables.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E7490"/>
                </a:solidFill>
              </a:rPr>
              <a:t>• Spatial 'Shadow-Block' Clustering (Novelty): </a:t>
            </a:r>
            <a:r>
              <a:rPr sz="1050">
                <a:solidFill>
                  <a:srgbClr val="1E293B"/>
                </a:solidFill>
              </a:rPr>
              <a:t>A Mathematical MILP optimizer automatically clubs Civil, S&amp;T, and TRD jobs occurring within +/-2.5 km into a single coordinated possession envelope - slashing redundant track closures by &gt;53% and saving ₹35+ Lakhs weekly per division.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E7490"/>
                </a:solidFill>
              </a:rPr>
              <a:t>• 4-Tier Sunlight &amp; Machine-Aware Slotting: </a:t>
            </a:r>
            <a:r>
              <a:rPr sz="1050">
                <a:solidFill>
                  <a:srgbClr val="1E293B"/>
                </a:solidFill>
              </a:rPr>
              <a:t>Unlike generic night schedulers, BlockTrain routes visual USFD flaw checks to daylight midday lulls (11:30-14:30) per IRPWM rules, heavy tamping machines to floodlit night windows (01:00-04:30), and fast component swaps to 45-min tactical micro-gaps between express trains.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E7490"/>
                </a:solidFill>
              </a:rPr>
              <a:t>• 100% Emergency Precision Shield: </a:t>
            </a:r>
            <a:r>
              <a:rPr sz="1050">
                <a:solidFill>
                  <a:srgbClr val="1E293B"/>
                </a:solidFill>
              </a:rPr>
              <a:t>Proprietary Two-Stage Stacked Model (630 Trees, 20,294 parameters) calculates continuous MPI (0-100) and guarantees zero false negatives on structural fractures (16/16 critical flaws caught).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BlockTrain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800" b="1">
                <a:solidFill>
                  <a:srgbClr val="1E3A8A"/>
                </a:solidFill>
              </a:defRPr>
            </a:pPr>
            <a:r>
              <a:t>TECHNICAL APPROACH &amp; 5-LAYER HIERARCHICAL AI PIPELINE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b="1" sz="1050">
                <a:solidFill>
                  <a:srgbClr val="0E7490"/>
                </a:solidFill>
              </a:rPr>
              <a:t>• Tech Stack &amp; Architecture: </a:t>
            </a:r>
            <a:r>
              <a:rPr sz="1000">
                <a:solidFill>
                  <a:srgbClr val="1E293B"/>
                </a:solidFill>
              </a:rPr>
              <a:t>Python (Scikit-Learn, NumPy, Pandas), FastAPI REST AI Service (Port 5001), MILP Optimization Solver, Next.js / Tailwind interactive console, and Kavach IR-TCAS-01 radio packet generator.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7490"/>
                </a:solidFill>
              </a:rPr>
              <a:t>• Layer 1 (Sensor Ingestion): </a:t>
            </a:r>
            <a:r>
              <a:rPr sz="1000">
                <a:solidFill>
                  <a:srgbClr val="1E293B"/>
                </a:solidFill>
              </a:rPr>
              <a:t>Standardizes 39 features across TMS (Track), SMMS (Signals), TDMS (25kV OHE), asset age, and overdue days.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7490"/>
                </a:solidFill>
              </a:rPr>
              <a:t>• Layer 2 (Interaction Physics): </a:t>
            </a:r>
            <a:r>
              <a:rPr sz="1000">
                <a:solidFill>
                  <a:srgbClr val="1E293B"/>
                </a:solidFill>
              </a:rPr>
              <a:t>Extracts compounding non-linear failure curves (Risk x Overdue Days and Risk x Asset Lifespan).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7490"/>
                </a:solidFill>
              </a:rPr>
              <a:t>• Layer 3 (Stage 1 MPI Regressor): </a:t>
            </a:r>
            <a:r>
              <a:rPr sz="1000">
                <a:solidFill>
                  <a:srgbClr val="1E293B"/>
                </a:solidFill>
              </a:rPr>
              <a:t>150 Gradient-Boosted Trees synthesize the continuous Maintenance Priority Index (MPI: 0 to 100) with R² = 93.21% and MAE = 3.41 points.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7490"/>
                </a:solidFill>
              </a:rPr>
              <a:t>• Layer 4 (Stage 2 Safety Classifier): </a:t>
            </a:r>
            <a:r>
              <a:rPr sz="1000">
                <a:solidFill>
                  <a:srgbClr val="1E293B"/>
                </a:solidFill>
              </a:rPr>
              <a:t>480 Trees with an Asymmetric Safety Shield (10x penalty for missed emergencies) classify into 4 tiers with 100% Emergency Precision.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7490"/>
                </a:solidFill>
              </a:rPr>
              <a:t>• Layer 5 (Spatial Actuator &amp; Signal Interlocking): </a:t>
            </a:r>
            <a:r>
              <a:rPr sz="1000">
                <a:solidFill>
                  <a:srgbClr val="1E293B"/>
                </a:solidFill>
              </a:rPr>
              <a:t>Clubs multi-department jobs in +/-2.5 km, locks station signals to Red Danger, and outputs Rolling Block Plans (7-Day Tactical / 30-Day Strategic).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BlockTrain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800" b="1">
                <a:solidFill>
                  <a:srgbClr val="1E3A8A"/>
                </a:solidFill>
              </a:defRPr>
            </a:pPr>
            <a:r>
              <a:t>FEASIBILITY, RISK ANALYSIS &amp; OPERATIONAL COMPLIANCE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7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050">
                <a:solidFill>
                  <a:srgbClr val="0E7490"/>
                </a:solidFill>
              </a:rPr>
              <a:t>• Operational &amp; Regulatory Feasibility: </a:t>
            </a:r>
            <a:r>
              <a:rPr sz="1000">
                <a:solidFill>
                  <a:srgbClr val="1E293B"/>
                </a:solidFill>
              </a:rPr>
              <a:t>100% compliant with Indian Railways General &amp; Subsidiary Rules (G&amp;SR) and Permanent Way Manual (IRPWM). Auto-generates legal Operating Form T/409 Disconnection Memos ready for Station Master sign-off.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0E7490"/>
                </a:solidFill>
              </a:rPr>
              <a:t>• Computational Feasibility: </a:t>
            </a:r>
            <a:r>
              <a:rPr sz="1000">
                <a:solidFill>
                  <a:srgbClr val="1E293B"/>
                </a:solidFill>
              </a:rPr>
              <a:t>Sub-2ms inference latency (1.2 ms per defect) on standard dual-core CPU with zero cloud/GPU requirement. Works offline in remote track cabins.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0E7490"/>
                </a:solidFill>
              </a:rPr>
              <a:t>• Risk 1 - AI Misclassifying Emergencies: </a:t>
            </a:r>
            <a:r>
              <a:rPr sz="1000">
                <a:solidFill>
                  <a:srgbClr val="1E293B"/>
                </a:solidFill>
              </a:rPr>
              <a:t>Mitigated via Asymmetric Safety Loss Function that forces zero false negatives on structural rail cracks (Verified 100% Emergency Precision on test dataset).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0E7490"/>
                </a:solidFill>
              </a:rPr>
              <a:t>• Risk 2 - Dynamic Train Timetable Delays: </a:t>
            </a:r>
            <a:r>
              <a:rPr sz="1000">
                <a:solidFill>
                  <a:srgbClr val="1E293B"/>
                </a:solidFill>
              </a:rPr>
              <a:t>Mitigated via Monte Carlo Chaos Timetable Simulator that regulates freight rakes on loop sidings, guaranteeing 0 delay to Vande Bharat and Mail/Express trains.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0E7490"/>
                </a:solidFill>
              </a:rPr>
              <a:t>• Risk 3 - Grassroots Gangmen Adoption: </a:t>
            </a:r>
            <a:r>
              <a:rPr sz="1000">
                <a:solidFill>
                  <a:srgbClr val="1E293B"/>
                </a:solidFill>
              </a:rPr>
              <a:t>Mitigated via Bilingual WhatsApp/SMS Bot with AI Weld-Photo Verification, enabling trackmen to confirm track clearance using basic smartphone cameras.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BlockTrain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800" b="1">
                <a:solidFill>
                  <a:srgbClr val="1E3A8A"/>
                </a:solidFill>
              </a:defRPr>
            </a:pPr>
            <a:r>
              <a:t>OPERATIONAL, ECONOMIC &amp; ESG IMPACT ON INDIAN RAILWAYS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7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050">
                <a:solidFill>
                  <a:srgbClr val="0E7490"/>
                </a:solidFill>
              </a:rPr>
              <a:t>• &gt; 53% Track Downtime Reduction: </a:t>
            </a:r>
            <a:r>
              <a:rPr sz="1000">
                <a:solidFill>
                  <a:srgbClr val="1E293B"/>
                </a:solidFill>
              </a:rPr>
              <a:t>Replaces fragmented single-department day possessions with unified multi-department shadow blocks, cutting total track possession hours from 36h to 14h weekly.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0E7490"/>
                </a:solidFill>
              </a:rPr>
              <a:t>• Zero Passenger Timetable Disruption: </a:t>
            </a:r>
            <a:r>
              <a:rPr sz="1000">
                <a:solidFill>
                  <a:srgbClr val="1E293B"/>
                </a:solidFill>
              </a:rPr>
              <a:t>Dynamically protects Vande Bharat and Suburban EMU punctuality through real-time COA timetable integration and automated freight siding regulation.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0E7490"/>
                </a:solidFill>
              </a:rPr>
              <a:t>• ₹35+ Lakhs Weekly Economic Savings: </a:t>
            </a:r>
            <a:r>
              <a:rPr sz="1000">
                <a:solidFill>
                  <a:srgbClr val="1E293B"/>
                </a:solidFill>
              </a:rPr>
              <a:t>Slashes freight detention demurrage penalties and eliminates duplicate track tamping machine transit haulage across sidings.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0E7490"/>
                </a:solidFill>
              </a:rPr>
              <a:t>• Net-Zero Carbon Mission 2030 (ESG): </a:t>
            </a:r>
            <a:r>
              <a:rPr sz="1000">
                <a:solidFill>
                  <a:srgbClr val="1E293B"/>
                </a:solidFill>
              </a:rPr>
              <a:t>By preventing 14 unplanned freight halts weekly, saves 3,200 kWh of 25kV traction electric energy and cuts 2.6 Tonnes of CO2 emissions.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0E7490"/>
                </a:solidFill>
              </a:rPr>
              <a:t>• Workforce Safety &amp; Kavach 4.0 ATP: </a:t>
            </a:r>
            <a:r>
              <a:rPr sz="1000">
                <a:solidFill>
                  <a:srgbClr val="1E293B"/>
                </a:solidFill>
              </a:rPr>
              <a:t>Directly broadcasts Temporary Speed Restriction (TSR) geofence packets (IR-TCAS-01 format) to approaching locomotive cabs, enforcing automatic braking 2 km before the track work zone.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BlockTrain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800" b="1">
                <a:solidFill>
                  <a:srgbClr val="1E3A8A"/>
                </a:solidFill>
              </a:defRPr>
            </a:pPr>
            <a:r>
              <a:t>RESEARCH, REGULATORY ALIGNMENT &amp; BENCHMARK DATA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050">
                <a:solidFill>
                  <a:srgbClr val="0E7490"/>
                </a:solidFill>
              </a:rPr>
              <a:t>1. Indian Railways Regulatory Manuals: </a:t>
            </a:r>
            <a:r>
              <a:rPr sz="950">
                <a:solidFill>
                  <a:srgbClr val="1E293B"/>
                </a:solidFill>
              </a:rPr>
              <a:t>Indian Railways Permanent Way Manual (IRPWM - 2020) Sections 602 &amp; 805 (Track Inspection &amp; USFD Flaw Norms); Indian Railways Signal Engineering Manual (IRSEM) on Disconnection Protocols; AC Traction Manual (ACTM) on 25kV Power Blocks; General &amp; Subsidiary Rules (G&amp;SR) on Form T/409.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7490"/>
                </a:solidFill>
              </a:rPr>
              <a:t>2. Mathematical Optimization &amp; Scheduling: </a:t>
            </a:r>
            <a:r>
              <a:rPr sz="950">
                <a:solidFill>
                  <a:srgbClr val="1E293B"/>
                </a:solidFill>
              </a:rPr>
              <a:t>Mixed-Integer Linear Programming (MILP) for Multi-Department Track Possession Clustering in High-Density Quadruple Rail Corridors (Transportation Research Part C: Emerging Technologies).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7490"/>
                </a:solidFill>
              </a:rPr>
              <a:t>3. Machine Learning for Asset Reliability: </a:t>
            </a:r>
            <a:r>
              <a:rPr sz="950">
                <a:solidFill>
                  <a:srgbClr val="1E293B"/>
                </a:solidFill>
              </a:rPr>
              <a:t>Hierarchical Gradient Boosted Decision Ensembles for Rail Flaw Progression &amp; Ultrasonic Defect Prioritization (IEEE Transactions on Intelligent Transportation Systems).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7490"/>
                </a:solidFill>
              </a:rPr>
              <a:t>4. Kavach Indigenous ATP Standards: </a:t>
            </a:r>
            <a:r>
              <a:rPr sz="950">
                <a:solidFill>
                  <a:srgbClr val="1E293B"/>
                </a:solidFill>
              </a:rPr>
              <a:t>RDSO Specification RDSO/SPN/196/2020 for Indian Railways Train Collision Avoidance System (Kavach TCAS / ATP) Radio Geofence and Dynamic TSR Broadcast Protocols.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7490"/>
                </a:solidFill>
              </a:rPr>
              <a:t>5. Field Benchmark Data: </a:t>
            </a:r>
            <a:r>
              <a:rPr sz="950">
                <a:solidFill>
                  <a:srgbClr val="1E293B"/>
                </a:solidFill>
              </a:rPr>
              <a:t>Trained &amp; validated on Southern Railway Chennai Division (MAS-AJJ 73 km Quadruple Electrified Trunk Corridor) unified TMS, SMMS, TDMS, and COA operational records.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BlockTrain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